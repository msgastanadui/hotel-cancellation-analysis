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34a38049-811c-4177-01cb-6029e53c6a8d}">
          <p14:sldIdLst>
            <p14:sldId id="256"/>
          </p14:sldIdLst>
        </p14:section>
        <p14:section name="Findings" id="{9f2ff8a2-9492-b8a3-0549-ca631f35a81b}">
          <p14:sldIdLst>
            <p14:sldId id="257"/>
            <p14:sldId id="258"/>
            <p14:sldId id="259"/>
            <p14:sldId id="260"/>
            <p14:sldId id="261"/>
          </p14:sldIdLst>
        </p14:section>
        <p14:section name="Actions" id="{be98890e-ee56-faed-e203-9f690766594d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Cancellation rate by lead time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Cancellation rate (%)</c:v>
                </c:pt>
              </c:strCache>
            </c:strRef>
          </c:tx>
          <c:spPr>
            <a:solidFill>
              <a:srgbClr val="B8C0C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C0C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C0C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C0C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0-7 days</c:v>
                  </c:pt>
                  <c:pt idx="1">
                    <c:v>8-30 days</c:v>
                  </c:pt>
                  <c:pt idx="2">
                    <c:v>31-90 days</c:v>
                  </c:pt>
                  <c:pt idx="3">
                    <c:v>91-180 days</c:v>
                  </c:pt>
                  <c:pt idx="4">
                    <c:v>180+ days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9.7</c:v>
                </c:pt>
                <c:pt idx="1">
                  <c:v>28.1</c:v>
                </c:pt>
                <c:pt idx="2">
                  <c:v>37.9</c:v>
                </c:pt>
                <c:pt idx="3">
                  <c:v>44.9</c:v>
                </c:pt>
                <c:pt idx="4">
                  <c:v>57.2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9525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all cancellations</c:v>
                </c:pt>
              </c:strCache>
            </c:strRef>
          </c:tx>
          <c:spPr>
            <a:solidFill>
              <a:srgbClr val="B8C0C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Online TA</c:v>
                  </c:pt>
                  <c:pt idx="1">
                    <c:v>Groups</c:v>
                  </c:pt>
                  <c:pt idx="2">
                    <c:v>Offline TA/TO</c:v>
                  </c:pt>
                  <c:pt idx="3">
                    <c:v>Direct</c:v>
                  </c:pt>
                  <c:pt idx="4">
                    <c:v>Corporate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47.1</c:v>
                </c:pt>
                <c:pt idx="1">
                  <c:v>27.4</c:v>
                </c:pt>
                <c:pt idx="2">
                  <c:v>18.8</c:v>
                </c:pt>
                <c:pt idx="3">
                  <c:v>4.3</c:v>
                </c:pt>
                <c:pt idx="4">
                  <c:v>2.2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revenue lost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Online TA</c:v>
                  </c:pt>
                  <c:pt idx="1">
                    <c:v>Groups</c:v>
                  </c:pt>
                  <c:pt idx="2">
                    <c:v>Offline TA/TO</c:v>
                  </c:pt>
                  <c:pt idx="3">
                    <c:v>Direct</c:v>
                  </c:pt>
                  <c:pt idx="4">
                    <c:v>Corporate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61.1</c:v>
                </c:pt>
                <c:pt idx="1">
                  <c:v>16.7</c:v>
                </c:pt>
                <c:pt idx="2">
                  <c:v>14.9</c:v>
                </c:pt>
                <c:pt idx="3">
                  <c:v>5.9</c:v>
                </c:pt>
                <c:pt idx="4">
                  <c:v>1.2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9525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57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Cancellation rate by arrival month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City Hotel</c:v>
                </c:pt>
              </c:strCache>
            </c:strRef>
          </c:tx>
          <c:spPr>
            <a:solidFill>
              <a:srgbClr val="14213D"/>
            </a:solidFill>
            <a:ln w="38100" cap="flat">
              <a:solidFill>
                <a:srgbClr val="1421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4213D"/>
              </a:solidFill>
              <a:ln w="9525" cap="flat">
                <a:solidFill>
                  <a:srgbClr val="1421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40.2</c:v>
                </c:pt>
                <c:pt idx="1">
                  <c:v>38.7</c:v>
                </c:pt>
                <c:pt idx="2">
                  <c:v>37.4</c:v>
                </c:pt>
                <c:pt idx="3">
                  <c:v>46.6</c:v>
                </c:pt>
                <c:pt idx="4">
                  <c:v>44.9</c:v>
                </c:pt>
                <c:pt idx="5">
                  <c:v>45.1</c:v>
                </c:pt>
                <c:pt idx="6">
                  <c:v>41.3</c:v>
                </c:pt>
                <c:pt idx="7">
                  <c:v>40.6</c:v>
                </c:pt>
                <c:pt idx="8">
                  <c:v>42.6</c:v>
                </c:pt>
                <c:pt idx="9">
                  <c:v>43.5</c:v>
                </c:pt>
                <c:pt idx="10">
                  <c:v>38.8</c:v>
                </c:pt>
                <c:pt idx="11">
                  <c:v>43.2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Resort Hotel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15</c:v>
                </c:pt>
                <c:pt idx="1">
                  <c:v>25.9</c:v>
                </c:pt>
                <c:pt idx="2">
                  <c:v>23.1</c:v>
                </c:pt>
                <c:pt idx="3">
                  <c:v>29.7</c:v>
                </c:pt>
                <c:pt idx="4">
                  <c:v>29.1</c:v>
                </c:pt>
                <c:pt idx="5">
                  <c:v>33.4</c:v>
                </c:pt>
                <c:pt idx="6">
                  <c:v>31.7</c:v>
                </c:pt>
                <c:pt idx="7">
                  <c:v>33.7</c:v>
                </c:pt>
                <c:pt idx="8">
                  <c:v>32.3</c:v>
                </c:pt>
                <c:pt idx="9">
                  <c:v>27.7</c:v>
                </c:pt>
                <c:pt idx="10">
                  <c:v>19.2</c:v>
                </c:pt>
                <c:pt idx="11">
                  <c:v>24.5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213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9525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B657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goal: understand which bookings are most likely to cancel and how much revenue is at stake in a two-hotel group.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is ADR x nights (potential revenue). Scenario A counts all canceled revenue as lost; scenario B treats Non Refund cancellations as retained.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time groups: 0-7, 8-30, 31-90, 91-180, 180+ days between booking date and arrival.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Online TA and Groups together account for 74.5% of cancellations. Direct and Corporate are the most stable segments (15.4% and 18.9%).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July and August have three years of data, the other months two. Compare rates, not volumes.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Refund bookings show about 99% cancellation, which is an anomaly. Validate with finance how deposits are recorded.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hypotheses to validate with an A/B test before any rollout. Also: invite guests to personalize their stay, since guests with special requests cancel far less (association, not causation).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Hotel Booking Cancellation - Analysis and Risk Segmentation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Hotel Booking Cancellation - Analysis and Risk Segmentation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BOOKING CANCELLATION</a:t>
            </a:r>
            <a:endParaRPr lang="en-US" sz="40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accent3"/>
                </a:solidFill>
              </a:rPr>
              <a:t>Analysis and Risk Segmentation</a:t>
            </a:r>
            <a:endParaRPr lang="en-US" sz="24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Who cancels more, and what it costs</a:t>
            </a:r>
            <a:endParaRPr lang="en-US" sz="1600" dirty="0"/>
          </a:p>
        </p:txBody>
      </p:sp>
      <p:sp>
        <p:nvSpPr>
          <p:cNvPr id="5" name="Tools"/>
          <p:cNvSpPr txBox="1"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Python  |  SQL  |  Tableau Public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Cancellations at a glance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548640" y="1371600"/>
            <a:ext cx="256032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1"/>
          <p:cNvSpPr txBox="1"/>
          <p:nvPr/>
        </p:nvSpPr>
        <p:spPr>
          <a:xfrm>
            <a:off x="685800" y="1600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37.5%</a:t>
            </a:r>
            <a:endParaRPr lang="en-US" sz="5400" dirty="0"/>
          </a:p>
        </p:txBody>
      </p:sp>
      <p:sp>
        <p:nvSpPr>
          <p:cNvPr id="5" name="Label 1"/>
          <p:cNvSpPr txBox="1"/>
          <p:nvPr/>
        </p:nvSpPr>
        <p:spPr>
          <a:xfrm>
            <a:off x="685800" y="2606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117,399 bookings were canceled</a:t>
            </a:r>
            <a:endParaRPr lang="en-US" sz="1600" dirty="0"/>
          </a:p>
        </p:txBody>
      </p:sp>
      <p:sp>
        <p:nvSpPr>
          <p:cNvPr id="6" name="Card 2"/>
          <p:cNvSpPr/>
          <p:nvPr/>
        </p:nvSpPr>
        <p:spPr>
          <a:xfrm>
            <a:off x="3291840" y="1371600"/>
            <a:ext cx="256032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2"/>
          <p:cNvSpPr txBox="1"/>
          <p:nvPr/>
        </p:nvSpPr>
        <p:spPr>
          <a:xfrm>
            <a:off x="3429000" y="1600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16.7M</a:t>
            </a:r>
            <a:endParaRPr lang="en-US" sz="5400" dirty="0"/>
          </a:p>
        </p:txBody>
      </p:sp>
      <p:sp>
        <p:nvSpPr>
          <p:cNvPr id="8" name="Label 2"/>
          <p:cNvSpPr txBox="1"/>
          <p:nvPr/>
        </p:nvSpPr>
        <p:spPr>
          <a:xfrm>
            <a:off x="3429000" y="2606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potential revenue lost (39%)</a:t>
            </a:r>
            <a:endParaRPr lang="en-US" sz="1600" dirty="0"/>
          </a:p>
        </p:txBody>
      </p:sp>
      <p:sp>
        <p:nvSpPr>
          <p:cNvPr id="9" name="Card 3"/>
          <p:cNvSpPr/>
          <p:nvPr/>
        </p:nvSpPr>
        <p:spPr>
          <a:xfrm>
            <a:off x="6035040" y="1371600"/>
            <a:ext cx="2560320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3"/>
          <p:cNvSpPr txBox="1"/>
          <p:nvPr/>
        </p:nvSpPr>
        <p:spPr>
          <a:xfrm>
            <a:off x="6172200" y="1600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13.1M</a:t>
            </a:r>
            <a:endParaRPr lang="en-US" sz="5400" dirty="0"/>
          </a:p>
        </p:txBody>
      </p:sp>
      <p:sp>
        <p:nvSpPr>
          <p:cNvPr id="11" name="Label 3"/>
          <p:cNvSpPr txBox="1"/>
          <p:nvPr/>
        </p:nvSpPr>
        <p:spPr>
          <a:xfrm>
            <a:off x="6172200" y="2606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Non Refund is retained (31%)</a:t>
            </a:r>
            <a:endParaRPr lang="en-US" sz="1600" dirty="0"/>
          </a:p>
        </p:txBody>
      </p:sp>
      <p:sp>
        <p:nvSpPr>
          <p:cNvPr id="12" name="Context"/>
          <p:cNvSpPr txBox="1"/>
          <p:nvPr/>
        </p:nvSpPr>
        <p:spPr>
          <a:xfrm>
            <a:off x="548640" y="3749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City Hotel and a Resort Hotel in Portugal, July 2015 to August 2017. The risk is concentrated in a few profiles, which the next slides show.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Lead time drives risk</a:t>
            </a:r>
            <a:endParaRPr lang="en-US" sz="3600" dirty="0"/>
          </a:p>
        </p:txBody>
      </p:sp>
      <p:graphicFrame>
        <p:nvGraphicFramePr>
          <p:cNvPr id="3" name="Lead time chart" descr=""/>
          <p:cNvGraphicFramePr/>
          <p:nvPr/>
        </p:nvGraphicFramePr>
        <p:xfrm>
          <a:off x="548640" y="118872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keaway"/>
          <p:cNvSpPr txBox="1"/>
          <p:nvPr/>
        </p:nvSpPr>
        <p:spPr>
          <a:xfrm>
            <a:off x="5943600" y="146304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9.7% to 57.2%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the further ahead a booking is made, the more likely it is to cancel.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58.7%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all cancellations come from bookings made more than 90 days ahead.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Where the money is lost</a:t>
            </a:r>
            <a:endParaRPr lang="en-US" sz="3600" dirty="0"/>
          </a:p>
        </p:txBody>
      </p:sp>
      <p:graphicFrame>
        <p:nvGraphicFramePr>
          <p:cNvPr id="3" name="Segment chart" descr=""/>
          <p:cNvGraphicFramePr/>
          <p:nvPr/>
        </p:nvGraphicFramePr>
        <p:xfrm>
          <a:off x="548640" y="118872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keaway"/>
          <p:cNvSpPr txBox="1"/>
          <p:nvPr/>
        </p:nvSpPr>
        <p:spPr>
          <a:xfrm>
            <a:off x="6217920" y="146304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Online TA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61.1% of revenue lost, from sheer volume and higher booking value.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Groups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highest cancellation rate (61.7%).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City and Resort differ</a:t>
            </a:r>
            <a:endParaRPr lang="en-US" sz="3600" dirty="0"/>
          </a:p>
        </p:txBody>
      </p:sp>
      <p:graphicFrame>
        <p:nvGraphicFramePr>
          <p:cNvPr id="3" name="Monthly chart" descr=""/>
          <p:cNvGraphicFramePr/>
          <p:nvPr/>
        </p:nvGraphicFramePr>
        <p:xfrm>
          <a:off x="548640" y="118872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keaway"/>
          <p:cNvSpPr txBox="1"/>
          <p:nvPr/>
        </p:nvSpPr>
        <p:spPr>
          <a:xfrm>
            <a:off x="6217920" y="146304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42.2% vs 28.1%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City Hotel vs Resort Hotel cancellation rate.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Different seasons</a:t>
            </a:r>
            <a:endParaRPr lang="en-US" sz="2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City peaks in spring; Resort peaks in summer and is lowest in winter.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Revenue at stake</a:t>
            </a:r>
            <a:endParaRPr lang="en-US" sz="3600" dirty="0"/>
          </a:p>
        </p:txBody>
      </p:sp>
      <p:sp>
        <p:nvSpPr>
          <p:cNvPr id="3" name="Scenario A card"/>
          <p:cNvSpPr/>
          <p:nvPr/>
        </p:nvSpPr>
        <p:spPr>
          <a:xfrm>
            <a:off x="548640" y="1280160"/>
            <a:ext cx="393192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cenario A name"/>
          <p:cNvSpPr txBox="1"/>
          <p:nvPr/>
        </p:nvSpPr>
        <p:spPr>
          <a:xfrm>
            <a:off x="7772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Scenario A</a:t>
            </a:r>
            <a:endParaRPr lang="en-US" sz="1800" dirty="0"/>
          </a:p>
        </p:txBody>
      </p:sp>
      <p:sp>
        <p:nvSpPr>
          <p:cNvPr id="5" name="Scenario A value"/>
          <p:cNvSpPr txBox="1"/>
          <p:nvPr/>
        </p:nvSpPr>
        <p:spPr>
          <a:xfrm>
            <a:off x="777240" y="1828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16.7M</a:t>
            </a:r>
            <a:endParaRPr lang="en-US" sz="5400" dirty="0"/>
          </a:p>
        </p:txBody>
      </p:sp>
      <p:sp>
        <p:nvSpPr>
          <p:cNvPr id="6" name="Scenario A share"/>
          <p:cNvSpPr txBox="1"/>
          <p:nvPr/>
        </p:nvSpPr>
        <p:spPr>
          <a:xfrm>
            <a:off x="77724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39% of potential revenue</a:t>
            </a:r>
            <a:endParaRPr lang="en-US" sz="1600" dirty="0"/>
          </a:p>
        </p:txBody>
      </p:sp>
      <p:sp>
        <p:nvSpPr>
          <p:cNvPr id="7" name="Scenario A assumption"/>
          <p:cNvSpPr txBox="1"/>
          <p:nvPr/>
        </p:nvSpPr>
        <p:spPr>
          <a:xfrm>
            <a:off x="77724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All canceled revenue is lost</a:t>
            </a:r>
            <a:endParaRPr lang="en-US" sz="1400" dirty="0"/>
          </a:p>
        </p:txBody>
      </p:sp>
      <p:sp>
        <p:nvSpPr>
          <p:cNvPr id="8" name="Scenario B card"/>
          <p:cNvSpPr/>
          <p:nvPr/>
        </p:nvSpPr>
        <p:spPr>
          <a:xfrm>
            <a:off x="4663440" y="1280160"/>
            <a:ext cx="3931920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cenario B name"/>
          <p:cNvSpPr txBox="1"/>
          <p:nvPr/>
        </p:nvSpPr>
        <p:spPr>
          <a:xfrm>
            <a:off x="48920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Scenario B</a:t>
            </a:r>
            <a:endParaRPr lang="en-US" sz="1800" dirty="0"/>
          </a:p>
        </p:txBody>
      </p:sp>
      <p:sp>
        <p:nvSpPr>
          <p:cNvPr id="10" name="Scenario B value"/>
          <p:cNvSpPr txBox="1"/>
          <p:nvPr/>
        </p:nvSpPr>
        <p:spPr>
          <a:xfrm>
            <a:off x="4892040" y="1828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13.1M</a:t>
            </a:r>
            <a:endParaRPr lang="en-US" sz="5400" dirty="0"/>
          </a:p>
        </p:txBody>
      </p:sp>
      <p:sp>
        <p:nvSpPr>
          <p:cNvPr id="11" name="Scenario B share"/>
          <p:cNvSpPr txBox="1"/>
          <p:nvPr/>
        </p:nvSpPr>
        <p:spPr>
          <a:xfrm>
            <a:off x="489204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31% of potential revenue</a:t>
            </a:r>
            <a:endParaRPr lang="en-US" sz="1600" dirty="0"/>
          </a:p>
        </p:txBody>
      </p:sp>
      <p:sp>
        <p:nvSpPr>
          <p:cNvPr id="12" name="Scenario B assumption"/>
          <p:cNvSpPr txBox="1"/>
          <p:nvPr/>
        </p:nvSpPr>
        <p:spPr>
          <a:xfrm>
            <a:off x="489204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Non Refund cancellations are retained</a:t>
            </a:r>
            <a:endParaRPr lang="en-US" sz="1400" dirty="0"/>
          </a:p>
        </p:txBody>
      </p:sp>
      <p:sp>
        <p:nvSpPr>
          <p:cNvPr id="13" name="Note"/>
          <p:cNvSpPr txBox="1"/>
          <p:nvPr/>
        </p:nvSpPr>
        <p:spPr>
          <a:xfrm>
            <a:off x="548640" y="3749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dataset has no payment data, so the truth lies between the two. Even in the conservative case, close to a third of potential revenue is lost, almost all from No Deposit bookings.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to test next</a:t>
            </a:r>
            <a:endParaRPr lang="en-US" sz="3600" dirty="0"/>
          </a:p>
        </p:txBody>
      </p:sp>
      <p:sp>
        <p:nvSpPr>
          <p:cNvPr id="3" name="Rec 1 card"/>
          <p:cNvSpPr/>
          <p:nvPr/>
        </p:nvSpPr>
        <p:spPr>
          <a:xfrm>
            <a:off x="548640" y="1280160"/>
            <a:ext cx="393192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c 1 badge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Rec 1 number"/>
          <p:cNvSpPr txBox="1"/>
          <p:nvPr/>
        </p:nvSpPr>
        <p:spPr>
          <a:xfrm>
            <a:off x="7315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Rec 1 title"/>
          <p:cNvSpPr txBox="1"/>
          <p:nvPr/>
        </p:nvSpPr>
        <p:spPr>
          <a:xfrm>
            <a:off x="1417320" y="14447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Long lead times</a:t>
            </a:r>
            <a:endParaRPr lang="en-US" sz="1800" dirty="0"/>
          </a:p>
        </p:txBody>
      </p:sp>
      <p:sp>
        <p:nvSpPr>
          <p:cNvPr id="7" name="Rec 1 text"/>
          <p:cNvSpPr txBox="1"/>
          <p:nvPr/>
        </p:nvSpPr>
        <p:spPr>
          <a:xfrm>
            <a:off x="1417320" y="184708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Deposits, tiered fees or confirmations for bookings made 90+ days ahead.</a:t>
            </a:r>
            <a:endParaRPr lang="en-US" sz="1400" dirty="0"/>
          </a:p>
        </p:txBody>
      </p:sp>
      <p:sp>
        <p:nvSpPr>
          <p:cNvPr id="8" name="Rec 2 card"/>
          <p:cNvSpPr/>
          <p:nvPr/>
        </p:nvSpPr>
        <p:spPr>
          <a:xfrm>
            <a:off x="4663440" y="1280160"/>
            <a:ext cx="393192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ec 2 badge"/>
          <p:cNvSpPr/>
          <p:nvPr/>
        </p:nvSpPr>
        <p:spPr>
          <a:xfrm>
            <a:off x="484632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Rec 2 number"/>
          <p:cNvSpPr txBox="1"/>
          <p:nvPr/>
        </p:nvSpPr>
        <p:spPr>
          <a:xfrm>
            <a:off x="48463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Rec 2 title"/>
          <p:cNvSpPr txBox="1"/>
          <p:nvPr/>
        </p:nvSpPr>
        <p:spPr>
          <a:xfrm>
            <a:off x="5532120" y="14447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Online TA and Groups</a:t>
            </a:r>
            <a:endParaRPr lang="en-US" sz="1800" dirty="0"/>
          </a:p>
        </p:txBody>
      </p:sp>
      <p:sp>
        <p:nvSpPr>
          <p:cNvPr id="12" name="Rec 2 text"/>
          <p:cNvSpPr txBox="1"/>
          <p:nvPr/>
        </p:nvSpPr>
        <p:spPr>
          <a:xfrm>
            <a:off x="5532120" y="184708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Stricter terms for Groups; deposits or fees for Online TA, watching demand.</a:t>
            </a:r>
            <a:endParaRPr lang="en-US" sz="1400" dirty="0"/>
          </a:p>
        </p:txBody>
      </p:sp>
      <p:sp>
        <p:nvSpPr>
          <p:cNvPr id="13" name="Rec 3 card"/>
          <p:cNvSpPr/>
          <p:nvPr/>
        </p:nvSpPr>
        <p:spPr>
          <a:xfrm>
            <a:off x="548640" y="2880360"/>
            <a:ext cx="393192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ec 3 badge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Rec 3 number"/>
          <p:cNvSpPr txBox="1"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Rec 3 title"/>
          <p:cNvSpPr txBox="1"/>
          <p:nvPr/>
        </p:nvSpPr>
        <p:spPr>
          <a:xfrm>
            <a:off x="1417320" y="3044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Per hotel and season</a:t>
            </a:r>
            <a:endParaRPr lang="en-US" sz="1800" dirty="0"/>
          </a:p>
        </p:txBody>
      </p:sp>
      <p:sp>
        <p:nvSpPr>
          <p:cNvPr id="17" name="Rec 3 text"/>
          <p:cNvSpPr txBox="1"/>
          <p:nvPr/>
        </p:nvSpPr>
        <p:spPr>
          <a:xfrm>
            <a:off x="1417320" y="344728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City Hotel all year (spring peak); Resort Hotel mainly in summer.</a:t>
            </a:r>
            <a:endParaRPr lang="en-US" sz="1400" dirty="0"/>
          </a:p>
        </p:txBody>
      </p:sp>
      <p:sp>
        <p:nvSpPr>
          <p:cNvPr id="18" name="Rec 4 card"/>
          <p:cNvSpPr/>
          <p:nvPr/>
        </p:nvSpPr>
        <p:spPr>
          <a:xfrm>
            <a:off x="4663440" y="2880360"/>
            <a:ext cx="3931920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ec 4 badge"/>
          <p:cNvSpPr/>
          <p:nvPr/>
        </p:nvSpPr>
        <p:spPr>
          <a:xfrm>
            <a:off x="4846320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Rec 4 number"/>
          <p:cNvSpPr txBox="1"/>
          <p:nvPr/>
        </p:nvSpPr>
        <p:spPr>
          <a:xfrm>
            <a:off x="48463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Rec 4 title"/>
          <p:cNvSpPr txBox="1"/>
          <p:nvPr/>
        </p:nvSpPr>
        <p:spPr>
          <a:xfrm>
            <a:off x="5532120" y="3044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Recover revenue</a:t>
            </a:r>
            <a:endParaRPr lang="en-US" sz="1800" dirty="0"/>
          </a:p>
        </p:txBody>
      </p:sp>
      <p:sp>
        <p:nvSpPr>
          <p:cNvPr id="22" name="Rec 4 text"/>
          <p:cNvSpPr txBox="1"/>
          <p:nvPr/>
        </p:nvSpPr>
        <p:spPr>
          <a:xfrm>
            <a:off x="5532120" y="344728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Higher cancellation fees for the riskiest profiles, resold room or not.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Limits and next steps</a:t>
            </a:r>
            <a:endParaRPr lang="en-US" sz="3600" dirty="0"/>
          </a:p>
        </p:txBody>
      </p:sp>
      <p:sp>
        <p:nvSpPr>
          <p:cNvPr id="3" name="Limits"/>
          <p:cNvSpPr txBox="1"/>
          <p:nvPr/>
        </p:nvSpPr>
        <p:spPr>
          <a:xfrm>
            <a:off x="548640" y="128016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Limits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No payment data: the Non Refund anomaly (about 99% cancellation) cannot be explained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Pre-COVID data (2015-2017)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Patterns are associations, not causes</a:t>
            </a:r>
            <a:endParaRPr lang="en-US" sz="1600" dirty="0"/>
          </a:p>
        </p:txBody>
      </p:sp>
      <p:sp>
        <p:nvSpPr>
          <p:cNvPr id="4" name="Next steps"/>
          <p:cNvSpPr txBox="1"/>
          <p:nvPr/>
        </p:nvSpPr>
        <p:spPr>
          <a:xfrm>
            <a:off x="4754880" y="128016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Next steps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Confirm with finance how deposits are recorded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Run an A/B test on deposits and fees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Build a risk score model and a risk-vs-impact matrix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tel Risk">
  <a:themeElements>
    <a:clrScheme name="Hotel Risk">
      <a:dk1>
        <a:srgbClr val="1A1F2B"/>
      </a:dk1>
      <a:lt1>
        <a:srgbClr val="FFFFFF"/>
      </a:lt1>
      <a:dk2>
        <a:srgbClr val="14213D"/>
      </a:dk2>
      <a:lt2>
        <a:srgbClr val="F2F4F7"/>
      </a:lt2>
      <a:accent1>
        <a:srgbClr val="E4572E"/>
      </a:accent1>
      <a:accent2>
        <a:srgbClr val="14213D"/>
      </a:accent2>
      <a:accent3>
        <a:srgbClr val="B8C0CC"/>
      </a:accent3>
      <a:accent4>
        <a:srgbClr val="2A9D8F"/>
      </a:accent4>
      <a:accent5>
        <a:srgbClr val="5B6573"/>
      </a:accent5>
      <a:accent6>
        <a:srgbClr val="F2A65A"/>
      </a:accent6>
      <a:hlink>
        <a:srgbClr val="2A9D8F"/>
      </a:hlink>
      <a:folHlink>
        <a:srgbClr val="5B6573"/>
      </a:folHlink>
    </a:clrScheme>
    <a:fontScheme name="Hotel R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 Cancellation - Analysis and Risk Segmentation</dc:title>
  <dc:subject>PptxGenJS Presentation</dc:subject>
  <dc:creator>PptxGenJS</dc:creator>
  <cp:lastModifiedBy>PptxGenJS</cp:lastModifiedBy>
  <cp:revision>1</cp:revision>
  <dcterms:created xsi:type="dcterms:W3CDTF">2026-10-18T22:00:40Z</dcterms:created>
  <dcterms:modified xsi:type="dcterms:W3CDTF">2026-10-18T22:00:40Z</dcterms:modified>
</cp:coreProperties>
</file>